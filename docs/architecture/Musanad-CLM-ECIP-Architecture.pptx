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4572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808080"/>
                </a:solidFill>
                <a:latin typeface="Calibri"/>
              </a:rPr>
              <a:t>MUSANAD CONTRACTS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32720" cy="13716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0" b="1">
                <a:solidFill>
                  <a:srgbClr val="1A1A1A"/>
                </a:solidFill>
                <a:latin typeface="Calibri"/>
              </a:rPr>
              <a:t>CLM + ECIP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E60012"/>
                </a:solidFill>
                <a:latin typeface="Calibri"/>
              </a:rPr>
              <a:t>Technical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617720"/>
            <a:ext cx="1828800" cy="3657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08080"/>
                </a:solidFill>
                <a:latin typeface="Calibri"/>
              </a:rPr>
              <a:t>Customer technical briefing  -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7315200" cy="4572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Logical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45720"/>
            <a:ext cx="7315200" cy="4572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DB-first  -  thin Express API  -  React Harden-mode FE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685800"/>
            <a:ext cx="2011680" cy="4389120"/>
          </a:xfrm>
          <a:prstGeom prst="rect">
            <a:avLst/>
          </a:prstGeom>
          <a:solidFill>
            <a:srgbClr val="FDE8EA"/>
          </a:solidFill>
          <a:ln w="12700">
            <a:solidFill>
              <a:srgbClr val="FAC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685800"/>
            <a:ext cx="2011680" cy="320040"/>
          </a:xfrm>
          <a:prstGeom prst="rect">
            <a:avLst/>
          </a:prstGeom>
          <a:solidFill>
            <a:srgbClr val="B30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85800"/>
            <a:ext cx="2011680" cy="32004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CROSS-CUTTING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1828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FAC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Calibri"/>
              </a:rPr>
              <a:t>JWT Auth (15m + 7d)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63040"/>
            <a:ext cx="1828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FAC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Calibri"/>
              </a:rPr>
              <a:t>RBAC permission codes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28800"/>
            <a:ext cx="1828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FAC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Calibri"/>
              </a:rPr>
              <a:t>RLS GUC (tenant + actor)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194560"/>
            <a:ext cx="1828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FAC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Calibri"/>
              </a:rPr>
              <a:t>Audit fan-out + redact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560320"/>
            <a:ext cx="1828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FAC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Calibri"/>
              </a:rPr>
              <a:t>Request correlation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926080"/>
            <a:ext cx="1828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FAC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Calibri"/>
              </a:rPr>
              <a:t>Rate limiting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291840"/>
            <a:ext cx="1828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FAC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Calibri"/>
              </a:rPr>
              <a:t>OpenTelemetry OTLP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657600"/>
            <a:ext cx="1828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FAC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Calibri"/>
              </a:rPr>
              <a:t>Pino structured logs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023360"/>
            <a:ext cx="1828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FAC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Calibri"/>
              </a:rPr>
              <a:t>Zod validation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389120"/>
            <a:ext cx="1828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FAC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Calibri"/>
              </a:rPr>
              <a:t>i18n EN + 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77440" y="685800"/>
            <a:ext cx="6858000" cy="96012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2860" bIns="22860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Presentation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Calibri"/>
              </a:rPr>
              <a:t>FE - TanStack Start + React 19 + Tailwind 4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A4A4A"/>
                </a:solidFill>
                <a:latin typeface="Calibri"/>
              </a:rPr>
              <a:t>11 persona dashboards  -  EN/AR i18n  -  Zustand + React Query  -  WCAG 2.1 AA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696712" y="1650492"/>
            <a:ext cx="219456" cy="109728"/>
          </a:xfrm>
          <a:prstGeom prst="downArrow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377440" y="1764792"/>
            <a:ext cx="6858000" cy="96012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2860" bIns="22860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API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Calibri"/>
              </a:rPr>
              <a:t>Express + TypeScript (thin HTTP layer)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A4A4A"/>
                </a:solidFill>
                <a:latin typeface="Calibri"/>
              </a:rPr>
              <a:t>Route -&gt; Controller -&gt; db.callFunction()  -  no business logic above the DB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5696712" y="2729484"/>
            <a:ext cx="219456" cy="109728"/>
          </a:xfrm>
          <a:prstGeom prst="downArrow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377440" y="2843784"/>
            <a:ext cx="6858000" cy="960120"/>
          </a:xfrm>
          <a:prstGeom prst="roundRect">
            <a:avLst>
              <a:gd name="adj" fmla="val 8000"/>
            </a:avLst>
          </a:prstGeom>
          <a:solidFill>
            <a:srgbClr val="FDE8EA"/>
          </a:solidFill>
          <a:ln w="3175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2860" bIns="22860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60012"/>
                </a:solidFill>
                <a:latin typeface="Calibri"/>
              </a:rPr>
              <a:t>Domain - PostgreSQL fn_ functions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Calibri"/>
              </a:rPr>
              <a:t>All business logic lives here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A4A4A"/>
                </a:solidFill>
                <a:latin typeface="Calibri"/>
              </a:rPr>
              <a:t>~700 fn_ functions  -  JSONB envelopes  -  permission checks  -  audit triggers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5696712" y="3808476"/>
            <a:ext cx="219456" cy="109728"/>
          </a:xfrm>
          <a:prstGeom prst="downArrow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377440" y="3922776"/>
            <a:ext cx="6858000" cy="96012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2860" bIns="22860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Data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Calibri"/>
              </a:rPr>
              <a:t>Neon Serverless Postgres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A4A4A"/>
                </a:solidFill>
                <a:latin typeface="Calibri"/>
              </a:rPr>
              <a:t>FORCE RLS via app.current_tenant_id GUC  -  pgvector 1536-dim  -  MVs  -  616 migrations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18320" y="685800"/>
            <a:ext cx="2606040" cy="438912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418320" y="685800"/>
            <a:ext cx="2606040" cy="3200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685800"/>
            <a:ext cx="2606040" cy="32004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INTEGRATIONS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09760" y="1097280"/>
            <a:ext cx="24231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Calibri"/>
              </a:rPr>
              <a:t>EXTERNAL: 14 OSINT adapters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0" y="1463040"/>
            <a:ext cx="24231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Calibri"/>
              </a:rPr>
              <a:t>INTERNAL: ERP / HRMS / CRM /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09760" y="1828800"/>
            <a:ext cx="24231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Calibri"/>
              </a:rPr>
              <a:t>ITSM / DMS / SCM / DWH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09760" y="2194560"/>
            <a:ext cx="24231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Calibri"/>
              </a:rPr>
              <a:t>OpenAI gpt-4o + embeddings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09760" y="2560320"/>
            <a:ext cx="24231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Calibri"/>
              </a:rPr>
              <a:t>Anthropic (stub)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09760" y="2926080"/>
            <a:ext cx="24231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Calibri"/>
              </a:rPr>
              <a:t>Nodemailer SMTP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09760" y="3291840"/>
            <a:ext cx="24231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Calibri"/>
              </a:rPr>
              <a:t>Teams / Slack (capture)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09760" y="3657600"/>
            <a:ext cx="24231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Calibri"/>
              </a:rPr>
              <a:t>UAE Pass OIDC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509760" y="4023360"/>
            <a:ext cx="24231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Calibri"/>
              </a:rPr>
              <a:t>Google Drive readonly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09760" y="4389120"/>
            <a:ext cx="24231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Calibri"/>
              </a:rPr>
              <a:t>OTel collector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2880" y="5257800"/>
            <a:ext cx="11841480" cy="1280160"/>
          </a:xfrm>
          <a:prstGeom prst="rect">
            <a:avLst/>
          </a:prstGeom>
          <a:solidFill>
            <a:srgbClr val="FDE8EA"/>
          </a:solidFill>
          <a:ln w="1905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82880" y="5257800"/>
            <a:ext cx="11841480" cy="32004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2880" y="5257800"/>
            <a:ext cx="11841480" cy="32004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ASYNC BACKBONE  -  17 Workers + Crons  (PG LISTEN/NOTIFY  +  node-cron)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0040" y="5669280"/>
            <a:ext cx="2269540" cy="365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2860" bIns="22860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1A"/>
                </a:solidFill>
                <a:latin typeface="Calibri"/>
              </a:rPr>
              <a:t>notification-retry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644444" y="5669280"/>
            <a:ext cx="2269540" cy="365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2860" bIns="22860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1A"/>
                </a:solidFill>
                <a:latin typeface="Calibri"/>
              </a:rPr>
              <a:t>document-ingestion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968849" y="5669280"/>
            <a:ext cx="2269540" cy="365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2860" bIns="22860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1A"/>
                </a:solidFill>
                <a:latin typeface="Calibri"/>
              </a:rPr>
              <a:t>clause-extraction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293254" y="5669280"/>
            <a:ext cx="2269540" cy="365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2860" bIns="22860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1A"/>
                </a:solidFill>
                <a:latin typeface="Calibri"/>
              </a:rPr>
              <a:t>correlation-evaluator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617659" y="5669280"/>
            <a:ext cx="2269540" cy="365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2860" bIns="22860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1A"/>
                </a:solidFill>
                <a:latin typeface="Calibri"/>
              </a:rPr>
              <a:t>score-recompute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20040" y="6080760"/>
            <a:ext cx="2269540" cy="365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2860" bIns="22860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1A"/>
                </a:solidFill>
                <a:latin typeface="Calibri"/>
              </a:rPr>
              <a:t>risk-case-auto-create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644444" y="6080760"/>
            <a:ext cx="2269540" cy="365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2860" bIns="22860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1A"/>
                </a:solidFill>
                <a:latin typeface="Calibri"/>
              </a:rPr>
              <a:t>source-fetch (OSINT)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968849" y="6080760"/>
            <a:ext cx="2269540" cy="365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2860" bIns="22860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1A"/>
                </a:solidFill>
                <a:latin typeface="Calibri"/>
              </a:rPr>
              <a:t>margin-recompute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293254" y="6080760"/>
            <a:ext cx="2269540" cy="365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2860" bIns="22860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1A"/>
                </a:solidFill>
                <a:latin typeface="Calibri"/>
              </a:rPr>
              <a:t>report-run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617659" y="6080760"/>
            <a:ext cx="2269540" cy="365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2860" bIns="22860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1A"/>
                </a:solidFill>
                <a:latin typeface="Calibri"/>
              </a:rPr>
              <a:t>approval-escalation + 7 more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" y="6601968"/>
            <a:ext cx="11887200" cy="20116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08080"/>
                </a:solidFill>
                <a:latin typeface="Calibri"/>
              </a:rPr>
              <a:t>Single Node process today  -  workers + API share runtime  -  in-memory rate limiter (Redis swap needed before multi-replica scaling)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7315200" cy="4572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Domain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45720"/>
            <a:ext cx="7315200" cy="4572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23 bounded contexts  -  grouped by capability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685800"/>
            <a:ext cx="3850538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685800"/>
            <a:ext cx="3850538" cy="32004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85800"/>
            <a:ext cx="3850538" cy="32004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CONTRACT LIFECYCLE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097280"/>
            <a:ext cx="3631082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  <a:latin typeface="Calibri"/>
              </a:rPr>
              <a:t>&gt;  </a:t>
            </a:r>
            <a:r>
              <a:rPr sz="1000" b="1">
                <a:solidFill>
                  <a:srgbClr val="1A1A1A"/>
                </a:solidFill>
                <a:latin typeface="Calibri"/>
              </a:rPr>
              <a:t>M1 Contracts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4A4A4A"/>
                </a:solidFill>
                <a:latin typeface="Calibri"/>
              </a:rPr>
              <a:t>     CRUD, versions, comments, payments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1417320"/>
            <a:ext cx="3631082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  <a:latin typeface="Calibri"/>
              </a:rPr>
              <a:t>&gt;  </a:t>
            </a:r>
            <a:r>
              <a:rPr sz="1000" b="1">
                <a:solidFill>
                  <a:srgbClr val="1A1A1A"/>
                </a:solidFill>
                <a:latin typeface="Calibri"/>
              </a:rPr>
              <a:t>M2 Approvals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4A4A4A"/>
                </a:solidFill>
                <a:latin typeface="Calibri"/>
              </a:rPr>
              <a:t>     matrix, chains, escalation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1737360"/>
            <a:ext cx="3631082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  <a:latin typeface="Calibri"/>
              </a:rPr>
              <a:t>&gt;  </a:t>
            </a:r>
            <a:r>
              <a:rPr sz="1000" b="1">
                <a:solidFill>
                  <a:srgbClr val="1A1A1A"/>
                </a:solidFill>
                <a:latin typeface="Calibri"/>
              </a:rPr>
              <a:t>M3 Signatures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4A4A4A"/>
                </a:solidFill>
                <a:latin typeface="Calibri"/>
              </a:rPr>
              <a:t>     token bearer + invitations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2057400"/>
            <a:ext cx="3631082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  <a:latin typeface="Calibri"/>
              </a:rPr>
              <a:t>&gt;  </a:t>
            </a:r>
            <a:r>
              <a:rPr sz="1000" b="1">
                <a:solidFill>
                  <a:srgbClr val="1A1A1A"/>
                </a:solidFill>
                <a:latin typeface="Calibri"/>
              </a:rPr>
              <a:t>M11 Document Ingestion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4A4A4A"/>
                </a:solidFill>
                <a:latin typeface="Calibri"/>
              </a:rPr>
              <a:t>     PDF + Tesseract OCR + Vision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2377440"/>
            <a:ext cx="3631082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  <a:latin typeface="Calibri"/>
              </a:rPr>
              <a:t>&gt;  </a:t>
            </a:r>
            <a:r>
              <a:rPr sz="1000" b="1">
                <a:solidFill>
                  <a:srgbClr val="1A1A1A"/>
                </a:solidFill>
                <a:latin typeface="Calibri"/>
              </a:rPr>
              <a:t>M12 Clause Extraction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4A4A4A"/>
                </a:solidFill>
                <a:latin typeface="Calibri"/>
              </a:rPr>
              <a:t>     pgvector semantic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" y="2697480"/>
            <a:ext cx="3631082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  <a:latin typeface="Calibri"/>
              </a:rPr>
              <a:t>&gt;  </a:t>
            </a:r>
            <a:r>
              <a:rPr sz="1000" b="1">
                <a:solidFill>
                  <a:srgbClr val="1A1A1A"/>
                </a:solidFill>
                <a:latin typeface="Calibri"/>
              </a:rPr>
              <a:t>Templates + Clauses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4A4A4A"/>
                </a:solidFill>
                <a:latin typeface="Calibri"/>
              </a:rPr>
              <a:t>     library + bulk extract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3017520"/>
            <a:ext cx="3631082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  <a:latin typeface="Calibri"/>
              </a:rPr>
              <a:t>&gt;  </a:t>
            </a:r>
            <a:r>
              <a:rPr sz="1000" b="1">
                <a:solidFill>
                  <a:srgbClr val="1A1A1A"/>
                </a:solidFill>
                <a:latin typeface="Calibri"/>
              </a:rPr>
              <a:t>M21a Budget Burn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4A4A4A"/>
                </a:solidFill>
                <a:latin typeface="Calibri"/>
              </a:rPr>
              <a:t>     services-contract YTD variance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70578" y="685800"/>
            <a:ext cx="3850538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70578" y="685800"/>
            <a:ext cx="3850538" cy="32004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70578" y="685800"/>
            <a:ext cx="3850538" cy="32004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RISK 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80306" y="1097280"/>
            <a:ext cx="3631082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  <a:latin typeface="Calibri"/>
              </a:rPr>
              <a:t>&gt;  </a:t>
            </a:r>
            <a:r>
              <a:rPr sz="1000" b="1">
                <a:solidFill>
                  <a:srgbClr val="1A1A1A"/>
                </a:solidFill>
                <a:latin typeface="Calibri"/>
              </a:rPr>
              <a:t>M7 OSINT Framework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4A4A4A"/>
                </a:solidFill>
                <a:latin typeface="Calibri"/>
              </a:rPr>
              <a:t>     14 adapters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80306" y="1417320"/>
            <a:ext cx="3631082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  <a:latin typeface="Calibri"/>
              </a:rPr>
              <a:t>&gt;  </a:t>
            </a:r>
            <a:r>
              <a:rPr sz="1000" b="1">
                <a:solidFill>
                  <a:srgbClr val="1A1A1A"/>
                </a:solidFill>
                <a:latin typeface="Calibri"/>
              </a:rPr>
              <a:t>M8 Internal Signals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4A4A4A"/>
                </a:solidFill>
                <a:latin typeface="Calibri"/>
              </a:rPr>
              <a:t>     8 types (SLA / payment / vendor / ...)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80306" y="1737360"/>
            <a:ext cx="3631082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  <a:latin typeface="Calibri"/>
              </a:rPr>
              <a:t>&gt;  </a:t>
            </a:r>
            <a:r>
              <a:rPr sz="1000" b="1">
                <a:solidFill>
                  <a:srgbClr val="1A1A1A"/>
                </a:solidFill>
                <a:latin typeface="Calibri"/>
              </a:rPr>
              <a:t>M13 Correlation Engine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4A4A4A"/>
                </a:solidFill>
                <a:latin typeface="Calibri"/>
              </a:rPr>
              <a:t>     30 DSL predicates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80306" y="2057400"/>
            <a:ext cx="3631082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  <a:latin typeface="Calibri"/>
              </a:rPr>
              <a:t>&gt;  </a:t>
            </a:r>
            <a:r>
              <a:rPr sz="1000" b="1">
                <a:solidFill>
                  <a:srgbClr val="1A1A1A"/>
                </a:solidFill>
                <a:latin typeface="Calibri"/>
              </a:rPr>
              <a:t>M14 5-Dim Risk Scoring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4A4A4A"/>
                </a:solidFill>
                <a:latin typeface="Calibri"/>
              </a:rPr>
              <a:t>     MaR + AVaR + MV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80306" y="2377440"/>
            <a:ext cx="3631082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  <a:latin typeface="Calibri"/>
              </a:rPr>
              <a:t>&gt;  </a:t>
            </a:r>
            <a:r>
              <a:rPr sz="1000" b="1">
                <a:solidFill>
                  <a:srgbClr val="1A1A1A"/>
                </a:solidFill>
                <a:latin typeface="Calibri"/>
              </a:rPr>
              <a:t>M19 Risk Cases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4A4A4A"/>
                </a:solidFill>
                <a:latin typeface="Calibri"/>
              </a:rPr>
              <a:t>     auto-create + escalation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80306" y="2697480"/>
            <a:ext cx="3631082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  <a:latin typeface="Calibri"/>
              </a:rPr>
              <a:t>&gt;  </a:t>
            </a:r>
            <a:r>
              <a:rPr sz="1000" b="1">
                <a:solidFill>
                  <a:srgbClr val="1A1A1A"/>
                </a:solidFill>
                <a:latin typeface="Calibri"/>
              </a:rPr>
              <a:t>M16 Advisory Drafter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4A4A4A"/>
                </a:solidFill>
                <a:latin typeface="Calibri"/>
              </a:rPr>
              <a:t>     Mustache + LLM polish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80306" y="3017520"/>
            <a:ext cx="3631082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  <a:latin typeface="Calibri"/>
              </a:rPr>
              <a:t>&gt;  </a:t>
            </a:r>
            <a:r>
              <a:rPr sz="1000" b="1">
                <a:solidFill>
                  <a:srgbClr val="1A1A1A"/>
                </a:solidFill>
                <a:latin typeface="Calibri"/>
              </a:rPr>
              <a:t>M21b Oil-Trade Margin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4A4A4A"/>
                </a:solidFill>
                <a:latin typeface="Calibri"/>
              </a:rPr>
              <a:t>     Index-Linked Contracts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58276" y="685800"/>
            <a:ext cx="3850538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58276" y="685800"/>
            <a:ext cx="3850538" cy="32004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58276" y="685800"/>
            <a:ext cx="3850538" cy="32004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AI SURFACES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8004" y="1097280"/>
            <a:ext cx="3631082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  <a:latin typeface="Calibri"/>
              </a:rPr>
              <a:t>&gt;  </a:t>
            </a:r>
            <a:r>
              <a:rPr sz="1000" b="1">
                <a:solidFill>
                  <a:srgbClr val="1A1A1A"/>
                </a:solidFill>
                <a:latin typeface="Calibri"/>
              </a:rPr>
              <a:t>M4 Contract Insights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4A4A4A"/>
                </a:solidFill>
                <a:latin typeface="Calibri"/>
              </a:rPr>
              <a:t>     10 AI controllers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68004" y="1417320"/>
            <a:ext cx="3631082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  <a:latin typeface="Calibri"/>
              </a:rPr>
              <a:t>&gt;  </a:t>
            </a:r>
            <a:r>
              <a:rPr sz="1000" b="1">
                <a:solidFill>
                  <a:srgbClr val="1A1A1A"/>
                </a:solidFill>
                <a:latin typeface="Calibri"/>
              </a:rPr>
              <a:t>M15 AI Risk Assistant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4A4A4A"/>
                </a:solidFill>
                <a:latin typeface="Calibri"/>
              </a:rPr>
              <a:t>     SSE streaming + ACL filter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8004" y="1737360"/>
            <a:ext cx="3631082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  <a:latin typeface="Calibri"/>
              </a:rPr>
              <a:t>&gt;  </a:t>
            </a:r>
            <a:r>
              <a:rPr sz="1000" b="1">
                <a:solidFill>
                  <a:srgbClr val="1A1A1A"/>
                </a:solidFill>
                <a:latin typeface="Calibri"/>
              </a:rPr>
              <a:t>M15 Persona Dashboards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4A4A4A"/>
                </a:solidFill>
                <a:latin typeface="Calibri"/>
              </a:rPr>
              <a:t>     Ops / Fin / ESG / Procurement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68004" y="2057400"/>
            <a:ext cx="3631082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  <a:latin typeface="Calibri"/>
              </a:rPr>
              <a:t>&gt;  </a:t>
            </a:r>
            <a:r>
              <a:rPr sz="1000" b="1">
                <a:solidFill>
                  <a:srgbClr val="1A1A1A"/>
                </a:solidFill>
                <a:latin typeface="Calibri"/>
              </a:rPr>
              <a:t>Drafting Assistant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4A4A4A"/>
                </a:solidFill>
                <a:latin typeface="Calibri"/>
              </a:rPr>
              <a:t>     version diff + title translate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68004" y="2377440"/>
            <a:ext cx="3631082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  <a:latin typeface="Calibri"/>
              </a:rPr>
              <a:t>&gt;  </a:t>
            </a:r>
            <a:r>
              <a:rPr sz="1000" b="1">
                <a:solidFill>
                  <a:srgbClr val="1A1A1A"/>
                </a:solidFill>
                <a:latin typeface="Calibri"/>
              </a:rPr>
              <a:t>pgvector Embeddings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4A4A4A"/>
                </a:solidFill>
                <a:latin typeface="Calibri"/>
              </a:rPr>
              <a:t>     1536-dim, 3 entities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68004" y="2697480"/>
            <a:ext cx="3631082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  <a:latin typeface="Calibri"/>
              </a:rPr>
              <a:t>&gt;  </a:t>
            </a:r>
            <a:r>
              <a:rPr sz="1000" b="1">
                <a:solidFill>
                  <a:srgbClr val="1A1A1A"/>
                </a:solidFill>
                <a:latin typeface="Calibri"/>
              </a:rPr>
              <a:t>AI Cost Telemetry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4A4A4A"/>
                </a:solidFill>
                <a:latin typeface="Calibri"/>
              </a:rPr>
              <a:t>     per-call settlement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68004" y="3017520"/>
            <a:ext cx="3631082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  <a:latin typeface="Calibri"/>
              </a:rPr>
              <a:t>&gt;  </a:t>
            </a:r>
            <a:r>
              <a:rPr sz="1000" b="1">
                <a:solidFill>
                  <a:srgbClr val="1A1A1A"/>
                </a:solidFill>
                <a:latin typeface="Calibri"/>
              </a:rPr>
              <a:t>Prompt Management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4A4A4A"/>
                </a:solidFill>
                <a:latin typeface="Calibri"/>
              </a:rPr>
              <a:t>     composite_id versioning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2880" y="3566160"/>
            <a:ext cx="5844387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82880" y="3566160"/>
            <a:ext cx="5844387" cy="32004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2880" y="3566160"/>
            <a:ext cx="5844387" cy="32004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NOTIFICATIONS &amp; WORKFLOW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8" y="3977640"/>
            <a:ext cx="5624931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  <a:latin typeface="Calibri"/>
              </a:rPr>
              <a:t>&gt;  </a:t>
            </a:r>
            <a:r>
              <a:rPr sz="1000" b="1">
                <a:solidFill>
                  <a:srgbClr val="1A1A1A"/>
                </a:solidFill>
                <a:latin typeface="Calibri"/>
              </a:rPr>
              <a:t>Notification Rule v2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4A4A4A"/>
                </a:solidFill>
                <a:latin typeface="Calibri"/>
              </a:rPr>
              <a:t>     3-table model + conditions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2608" y="4297680"/>
            <a:ext cx="5624931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  <a:latin typeface="Calibri"/>
              </a:rPr>
              <a:t>&gt;  </a:t>
            </a:r>
            <a:r>
              <a:rPr sz="1000" b="1">
                <a:solidFill>
                  <a:srgbClr val="1A1A1A"/>
                </a:solidFill>
                <a:latin typeface="Calibri"/>
              </a:rPr>
              <a:t>Dispatch + Retry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4A4A4A"/>
                </a:solidFill>
                <a:latin typeface="Calibri"/>
              </a:rPr>
              <a:t>     1m -&gt; 5m -&gt; 30m -&gt; 2h -&gt; 8h backoff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2608" y="4617720"/>
            <a:ext cx="5624931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  <a:latin typeface="Calibri"/>
              </a:rPr>
              <a:t>&gt;  </a:t>
            </a:r>
            <a:r>
              <a:rPr sz="1000" b="1">
                <a:solidFill>
                  <a:srgbClr val="1A1A1A"/>
                </a:solidFill>
                <a:latin typeface="Calibri"/>
              </a:rPr>
              <a:t>Channels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4A4A4A"/>
                </a:solidFill>
                <a:latin typeface="Calibri"/>
              </a:rPr>
              <a:t>     email - Teams capture - Slack capture - in-app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608" y="4937760"/>
            <a:ext cx="5624931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  <a:latin typeface="Calibri"/>
              </a:rPr>
              <a:t>&gt;  </a:t>
            </a:r>
            <a:r>
              <a:rPr sz="1000" b="1">
                <a:solidFill>
                  <a:srgbClr val="1A1A1A"/>
                </a:solidFill>
                <a:latin typeface="Calibri"/>
              </a:rPr>
              <a:t>Subscriptions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4A4A4A"/>
                </a:solidFill>
                <a:latin typeface="Calibri"/>
              </a:rPr>
              <a:t>     per-user x kind x channel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2608" y="5257800"/>
            <a:ext cx="5624931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  <a:latin typeface="Calibri"/>
              </a:rPr>
              <a:t>&gt;  </a:t>
            </a:r>
            <a:r>
              <a:rPr sz="1000" b="1">
                <a:solidFill>
                  <a:srgbClr val="1A1A1A"/>
                </a:solidFill>
                <a:latin typeface="Calibri"/>
              </a:rPr>
              <a:t>17 async workers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4A4A4A"/>
                </a:solidFill>
                <a:latin typeface="Calibri"/>
              </a:rPr>
              <a:t>     cron + LISTEN/NOTIFY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2608" y="5577840"/>
            <a:ext cx="5624931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  <a:latin typeface="Calibri"/>
              </a:rPr>
              <a:t>&gt;  </a:t>
            </a:r>
            <a:r>
              <a:rPr sz="1000" b="1">
                <a:solidFill>
                  <a:srgbClr val="1A1A1A"/>
                </a:solidFill>
                <a:latin typeface="Calibri"/>
              </a:rPr>
              <a:t>SLA escalations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4A4A4A"/>
                </a:solidFill>
                <a:latin typeface="Calibri"/>
              </a:rPr>
              <a:t>     approvals - signatures - obligations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2608" y="5897880"/>
            <a:ext cx="5624931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  <a:latin typeface="Calibri"/>
              </a:rPr>
              <a:t>&gt;  </a:t>
            </a:r>
            <a:r>
              <a:rPr sz="1000" b="1">
                <a:solidFill>
                  <a:srgbClr val="1A1A1A"/>
                </a:solidFill>
                <a:latin typeface="Calibri"/>
              </a:rPr>
              <a:t>Demo time-freeze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4A4A4A"/>
                </a:solidFill>
                <a:latin typeface="Calibri"/>
              </a:rPr>
              <a:t>     deterministic scenarios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64427" y="3566160"/>
            <a:ext cx="5844387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164427" y="3566160"/>
            <a:ext cx="5844387" cy="32004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64427" y="3566160"/>
            <a:ext cx="5844387" cy="32004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PLATFORM &amp; ADMIN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74155" y="3977640"/>
            <a:ext cx="5624931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  <a:latin typeface="Calibri"/>
              </a:rPr>
              <a:t>&gt;  </a:t>
            </a:r>
            <a:r>
              <a:rPr sz="1000" b="1">
                <a:solidFill>
                  <a:srgbClr val="1A1A1A"/>
                </a:solidFill>
                <a:latin typeface="Calibri"/>
              </a:rPr>
              <a:t>Multi-tenant chassis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4A4A4A"/>
                </a:solidFill>
                <a:latin typeface="Calibri"/>
              </a:rPr>
              <a:t>     tenant + product_module_enable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74155" y="4297680"/>
            <a:ext cx="5624931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  <a:latin typeface="Calibri"/>
              </a:rPr>
              <a:t>&gt;  </a:t>
            </a:r>
            <a:r>
              <a:rPr sz="1000" b="1">
                <a:solidFill>
                  <a:srgbClr val="1A1A1A"/>
                </a:solidFill>
                <a:latin typeface="Calibri"/>
              </a:rPr>
              <a:t>Audit Chain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4A4A4A"/>
                </a:solidFill>
                <a:latin typeface="Calibri"/>
              </a:rPr>
              <a:t>     tamper-evident verification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74155" y="4617720"/>
            <a:ext cx="5624931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  <a:latin typeface="Calibri"/>
              </a:rPr>
              <a:t>&gt;  </a:t>
            </a:r>
            <a:r>
              <a:rPr sz="1000" b="1">
                <a:solidFill>
                  <a:srgbClr val="1A1A1A"/>
                </a:solidFill>
                <a:latin typeface="Calibri"/>
              </a:rPr>
              <a:t>Internal Systems Registry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4A4A4A"/>
                </a:solidFill>
                <a:latin typeface="Calibri"/>
              </a:rPr>
              <a:t>     ERP / Finance / HRMS / CRM / ITSM / DMS / SCM / DWH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74155" y="4937760"/>
            <a:ext cx="5624931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  <a:latin typeface="Calibri"/>
              </a:rPr>
              <a:t>&gt;  </a:t>
            </a:r>
            <a:r>
              <a:rPr sz="1000" b="1">
                <a:solidFill>
                  <a:srgbClr val="1A1A1A"/>
                </a:solidFill>
                <a:latin typeface="Calibri"/>
              </a:rPr>
              <a:t>M20 Reports &amp; Briefings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4A4A4A"/>
                </a:solidFill>
                <a:latin typeface="Calibri"/>
              </a:rPr>
              <a:t>     24 ADNOC slugs + PDF / XLSX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74155" y="5257800"/>
            <a:ext cx="5624931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  <a:latin typeface="Calibri"/>
              </a:rPr>
              <a:t>&gt;  </a:t>
            </a:r>
            <a:r>
              <a:rPr sz="1000" b="1">
                <a:solidFill>
                  <a:srgbClr val="1A1A1A"/>
                </a:solidFill>
                <a:latin typeface="Calibri"/>
              </a:rPr>
              <a:t>M22 Migration + Drive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4A4A4A"/>
                </a:solidFill>
                <a:latin typeface="Calibri"/>
              </a:rPr>
              <a:t>     Google Drive readonly OAuth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74155" y="5577840"/>
            <a:ext cx="5624931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  <a:latin typeface="Calibri"/>
              </a:rPr>
              <a:t>&gt;  </a:t>
            </a:r>
            <a:r>
              <a:rPr sz="1000" b="1">
                <a:solidFill>
                  <a:srgbClr val="1A1A1A"/>
                </a:solidFill>
                <a:latin typeface="Calibri"/>
              </a:rPr>
              <a:t>Demo Harness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4A4A4A"/>
                </a:solidFill>
                <a:latin typeface="Calibri"/>
              </a:rPr>
              <a:t>     8 scenarios + 9-subsystem health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74155" y="5897880"/>
            <a:ext cx="5624931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  <a:latin typeface="Calibri"/>
              </a:rPr>
              <a:t>&gt;  </a:t>
            </a:r>
            <a:r>
              <a:rPr sz="1000" b="1">
                <a:solidFill>
                  <a:srgbClr val="1A1A1A"/>
                </a:solidFill>
                <a:latin typeface="Calibri"/>
              </a:rPr>
              <a:t>Industry Catalog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4A4A4A"/>
                </a:solidFill>
                <a:latin typeface="Calibri"/>
              </a:rPr>
              <a:t>     benchmarks + cost components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4320" y="6446520"/>
            <a:ext cx="11887200" cy="3657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  <a:latin typeface="Calibri"/>
              </a:rPr>
              <a:t>616 migrations  -  ~700 fn_ functions  -  23 modules  -  17 workers  -  14 OSINT adapters  -  11 persona dashboards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7315200" cy="4572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Risk Signal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45720"/>
            <a:ext cx="7315200" cy="4572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External or internal event  -&gt;  drafter inbox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77240"/>
            <a:ext cx="2109155" cy="4937760"/>
          </a:xfrm>
          <a:prstGeom prst="rect">
            <a:avLst/>
          </a:prstGeom>
          <a:solidFill>
            <a:srgbClr val="FFFFFF"/>
          </a:solidFill>
          <a:ln w="1905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3137" y="914400"/>
            <a:ext cx="548640" cy="548640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2860" bIns="22860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1554480"/>
            <a:ext cx="2109155" cy="3657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INGEST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920240"/>
            <a:ext cx="2109155" cy="2743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08080"/>
                </a:solidFill>
                <a:latin typeface="Calibri"/>
              </a:rPr>
              <a:t>External + internal signals captured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86000"/>
            <a:ext cx="1926275" cy="1623060"/>
          </a:xfrm>
          <a:prstGeom prst="rect">
            <a:avLst/>
          </a:prstGeom>
          <a:solidFill>
            <a:srgbClr val="FDE8EA"/>
          </a:solidFill>
          <a:ln w="6350">
            <a:solidFill>
              <a:srgbClr val="FAC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331720"/>
            <a:ext cx="1926275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B3000E"/>
                </a:solidFill>
                <a:latin typeface="Calibri"/>
              </a:rPr>
              <a:t>EXTERNAL (OSINT)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560320"/>
            <a:ext cx="1834835" cy="332613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Calibri"/>
              </a:rPr>
              <a:t>- 14 OSINT adapters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892933"/>
            <a:ext cx="1834835" cy="332613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Calibri"/>
              </a:rPr>
              <a:t>- Sanctions (OFAC/EU/UN/HMT)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225546"/>
            <a:ext cx="1834835" cy="332613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Calibri"/>
              </a:rPr>
              <a:t>- Weather - GDELT - FX - RSS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558159"/>
            <a:ext cx="1834835" cy="332613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Calibri"/>
              </a:rPr>
              <a:t>- ICV custom registry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00500"/>
            <a:ext cx="1926275" cy="162306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4046220"/>
            <a:ext cx="1926275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4A4A4A"/>
                </a:solidFill>
                <a:latin typeface="Calibri"/>
              </a:rPr>
              <a:t>INTERNAL (ERP / HR / IT)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4274820"/>
            <a:ext cx="1834835" cy="332613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Calibri"/>
              </a:rPr>
              <a:t>o 9 system kinds (admin registry)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607433"/>
            <a:ext cx="1834835" cy="332613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Calibri"/>
              </a:rPr>
              <a:t>o ERP / Finance / HRMS / CRM / ITSM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4940046"/>
            <a:ext cx="1834835" cy="332613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Calibri"/>
              </a:rPr>
              <a:t>o 8 signal types (M8 CR-A2)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5272659"/>
            <a:ext cx="1834835" cy="332613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Calibri"/>
              </a:rPr>
              <a:t>o milestone slip - SLA - payment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310323" y="3063240"/>
            <a:ext cx="283464" cy="365760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12075" y="777240"/>
            <a:ext cx="2109155" cy="4937760"/>
          </a:xfrm>
          <a:prstGeom prst="rect">
            <a:avLst/>
          </a:prstGeom>
          <a:solidFill>
            <a:srgbClr val="FFFFFF"/>
          </a:solidFill>
          <a:ln w="1905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392332" y="914400"/>
            <a:ext cx="548640" cy="548640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2860" bIns="22860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12075" y="1554480"/>
            <a:ext cx="2109155" cy="3657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CORRELATE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12075" y="1920240"/>
            <a:ext cx="2109155" cy="2743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08080"/>
                </a:solidFill>
                <a:latin typeface="Calibri"/>
              </a:rPr>
              <a:t>Rule engine evaluation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03515" y="2286000"/>
            <a:ext cx="1926275" cy="1623060"/>
          </a:xfrm>
          <a:prstGeom prst="rect">
            <a:avLst/>
          </a:prstGeom>
          <a:solidFill>
            <a:srgbClr val="FDE8EA"/>
          </a:solidFill>
          <a:ln w="6350">
            <a:solidFill>
              <a:srgbClr val="FAC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03515" y="2331720"/>
            <a:ext cx="1926275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B3000E"/>
                </a:solidFill>
                <a:latin typeface="Calibri"/>
              </a:rPr>
              <a:t>COMPONENTS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9235" y="2560320"/>
            <a:ext cx="1834835" cy="332613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Calibri"/>
              </a:rPr>
              <a:t>- correlation-evaluator.worker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9235" y="2892933"/>
            <a:ext cx="1834835" cy="332613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Calibri"/>
              </a:rPr>
              <a:t>- rule-evaluator.service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9235" y="3225546"/>
            <a:ext cx="1834835" cy="332613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Calibri"/>
              </a:rPr>
              <a:t>- 30 DSL predicates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9235" y="3558159"/>
            <a:ext cx="1834835" cy="332613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Calibri"/>
              </a:rPr>
              <a:t>- 5s eval timeout per rule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03515" y="4000500"/>
            <a:ext cx="1926275" cy="162306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03515" y="4046220"/>
            <a:ext cx="1926275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4A4A4A"/>
                </a:solidFill>
                <a:latin typeface="Calibri"/>
              </a:rPr>
              <a:t>TABLES + WORKERS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9235" y="4274820"/>
            <a:ext cx="1834835" cy="332613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Calibri"/>
              </a:rPr>
              <a:t>o correlation_rule table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9235" y="4607433"/>
            <a:ext cx="1834835" cy="332613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Calibri"/>
              </a:rPr>
              <a:t>o INSERT correlation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9235" y="4940046"/>
            <a:ext cx="1834835" cy="332613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Calibri"/>
              </a:rPr>
              <a:t>o PG NOTIFY correlation_inserted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9235" y="5272659"/>
            <a:ext cx="1834835" cy="332613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Calibri"/>
              </a:rPr>
              <a:t>o rule cache LISTEN rule_changed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4739518" y="3063240"/>
            <a:ext cx="283464" cy="365760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41270" y="777240"/>
            <a:ext cx="2109155" cy="4937760"/>
          </a:xfrm>
          <a:prstGeom prst="rect">
            <a:avLst/>
          </a:prstGeom>
          <a:solidFill>
            <a:srgbClr val="FFFFFF"/>
          </a:solidFill>
          <a:ln w="1905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821527" y="914400"/>
            <a:ext cx="548640" cy="548640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2860" bIns="22860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41270" y="1554480"/>
            <a:ext cx="2109155" cy="3657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CLASSIFY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41270" y="1920240"/>
            <a:ext cx="2109155" cy="2743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08080"/>
                </a:solidFill>
                <a:latin typeface="Calibri"/>
              </a:rPr>
              <a:t>Risk case + score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32710" y="2286000"/>
            <a:ext cx="1926275" cy="1623060"/>
          </a:xfrm>
          <a:prstGeom prst="rect">
            <a:avLst/>
          </a:prstGeom>
          <a:solidFill>
            <a:srgbClr val="FDE8EA"/>
          </a:solidFill>
          <a:ln w="6350">
            <a:solidFill>
              <a:srgbClr val="FAC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32710" y="2331720"/>
            <a:ext cx="1926275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B3000E"/>
                </a:solidFill>
                <a:latin typeface="Calibri"/>
              </a:rPr>
              <a:t>COMPONENTS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78430" y="2560320"/>
            <a:ext cx="1834835" cy="332613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Calibri"/>
              </a:rPr>
              <a:t>- risk-case-auto-create.worker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78430" y="2892933"/>
            <a:ext cx="1834835" cy="332613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Calibri"/>
              </a:rPr>
              <a:t>- score-recompute.worker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78430" y="3225546"/>
            <a:ext cx="1834835" cy="332613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Calibri"/>
              </a:rPr>
              <a:t>- Risk Routing rules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78430" y="3558159"/>
            <a:ext cx="1834835" cy="332613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Calibri"/>
              </a:rPr>
              <a:t>- 4-tier classifier (Tier 1-4)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32710" y="4000500"/>
            <a:ext cx="1926275" cy="162306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132710" y="4046220"/>
            <a:ext cx="1926275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4A4A4A"/>
                </a:solidFill>
                <a:latin typeface="Calibri"/>
              </a:rPr>
              <a:t>TABLES + WORKERS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78430" y="4274820"/>
            <a:ext cx="1834835" cy="332613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Calibri"/>
              </a:rPr>
              <a:t>o INSERT risk_case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78430" y="4607433"/>
            <a:ext cx="1834835" cy="332613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Calibri"/>
              </a:rPr>
              <a:t>o UPDATE latest_risk_score MV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78430" y="4940046"/>
            <a:ext cx="1834835" cy="332613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Calibri"/>
              </a:rPr>
              <a:t>o 5-dim + MaR + AVaR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178430" y="5272659"/>
            <a:ext cx="1834835" cy="332613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Calibri"/>
              </a:rPr>
              <a:t>o Auto-assign drafter</a:t>
            </a:r>
          </a:p>
        </p:txBody>
      </p:sp>
      <p:sp>
        <p:nvSpPr>
          <p:cNvPr id="55" name="Right Arrow 54"/>
          <p:cNvSpPr/>
          <p:nvPr/>
        </p:nvSpPr>
        <p:spPr>
          <a:xfrm>
            <a:off x="7168713" y="3063240"/>
            <a:ext cx="283464" cy="365760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470465" y="777240"/>
            <a:ext cx="2109155" cy="4937760"/>
          </a:xfrm>
          <a:prstGeom prst="rect">
            <a:avLst/>
          </a:prstGeom>
          <a:solidFill>
            <a:srgbClr val="FFFFFF"/>
          </a:solidFill>
          <a:ln w="1905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250722" y="914400"/>
            <a:ext cx="548640" cy="548640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2860" bIns="22860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70465" y="1554480"/>
            <a:ext cx="2109155" cy="3657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EXPLAIN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70465" y="1920240"/>
            <a:ext cx="2109155" cy="2743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08080"/>
                </a:solidFill>
                <a:latin typeface="Calibri"/>
              </a:rPr>
              <a:t>AI surface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61905" y="2286000"/>
            <a:ext cx="1926275" cy="1623060"/>
          </a:xfrm>
          <a:prstGeom prst="rect">
            <a:avLst/>
          </a:prstGeom>
          <a:solidFill>
            <a:srgbClr val="FDE8EA"/>
          </a:solidFill>
          <a:ln w="6350">
            <a:solidFill>
              <a:srgbClr val="FAC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61905" y="2331720"/>
            <a:ext cx="1926275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B3000E"/>
                </a:solidFill>
                <a:latin typeface="Calibri"/>
              </a:rPr>
              <a:t>COMPONENTS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07625" y="2560320"/>
            <a:ext cx="1834835" cy="332613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Calibri"/>
              </a:rPr>
              <a:t>- AI Risk Assistant SSE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07625" y="2892933"/>
            <a:ext cx="1834835" cy="332613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Calibri"/>
              </a:rPr>
              <a:t>- ACL pre-filter + scope_hash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07625" y="3225546"/>
            <a:ext cx="1834835" cy="332613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Calibri"/>
              </a:rPr>
              <a:t>- pgvector citations (1536-dim)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07625" y="3558159"/>
            <a:ext cx="1834835" cy="332613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Calibri"/>
              </a:rPr>
              <a:t>- Advisory Drafter (Mustache+LLM)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61905" y="4000500"/>
            <a:ext cx="1926275" cy="162306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61905" y="4046220"/>
            <a:ext cx="1926275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4A4A4A"/>
                </a:solidFill>
                <a:latin typeface="Calibri"/>
              </a:rPr>
              <a:t>TABLES + WORKERS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07625" y="4274820"/>
            <a:ext cx="1834835" cy="332613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Calibri"/>
              </a:rPr>
              <a:t>o ai_request_log audit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07625" y="4607433"/>
            <a:ext cx="1834835" cy="332613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Calibri"/>
              </a:rPr>
              <a:t>o ai_insight 300s cache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07625" y="4940046"/>
            <a:ext cx="1834835" cy="332613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Calibri"/>
              </a:rPr>
              <a:t>o advisory_template seed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607625" y="5272659"/>
            <a:ext cx="1834835" cy="332613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Calibri"/>
              </a:rPr>
              <a:t>o INSERT advisory_draft</a:t>
            </a:r>
          </a:p>
        </p:txBody>
      </p:sp>
      <p:sp>
        <p:nvSpPr>
          <p:cNvPr id="72" name="Right Arrow 71"/>
          <p:cNvSpPr/>
          <p:nvPr/>
        </p:nvSpPr>
        <p:spPr>
          <a:xfrm>
            <a:off x="9597908" y="3063240"/>
            <a:ext cx="283464" cy="365760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899660" y="777240"/>
            <a:ext cx="2109155" cy="4937760"/>
          </a:xfrm>
          <a:prstGeom prst="rect">
            <a:avLst/>
          </a:prstGeom>
          <a:solidFill>
            <a:srgbClr val="FFFFFF"/>
          </a:solidFill>
          <a:ln w="1905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679917" y="914400"/>
            <a:ext cx="548640" cy="548640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2860" bIns="22860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899660" y="1554480"/>
            <a:ext cx="2109155" cy="3657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NOTIFY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899660" y="1920240"/>
            <a:ext cx="2109155" cy="2743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08080"/>
                </a:solidFill>
                <a:latin typeface="Calibri"/>
              </a:rPr>
              <a:t>Multi-channel delivery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991100" y="2286000"/>
            <a:ext cx="1926275" cy="1623060"/>
          </a:xfrm>
          <a:prstGeom prst="rect">
            <a:avLst/>
          </a:prstGeom>
          <a:solidFill>
            <a:srgbClr val="FDE8EA"/>
          </a:solidFill>
          <a:ln w="6350">
            <a:solidFill>
              <a:srgbClr val="FAC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991100" y="2331720"/>
            <a:ext cx="1926275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B3000E"/>
                </a:solidFill>
                <a:latin typeface="Calibri"/>
              </a:rPr>
              <a:t>COMPONENTS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036820" y="2560320"/>
            <a:ext cx="1834835" cy="332613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Calibri"/>
              </a:rPr>
              <a:t>- notification-dispatcher.service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036820" y="2892933"/>
            <a:ext cx="1834835" cy="332613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Calibri"/>
              </a:rPr>
              <a:t>- in-app - email - Teams - Slack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036820" y="3225546"/>
            <a:ext cx="1834835" cy="332613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Calibri"/>
              </a:rPr>
              <a:t>- Subscription gate (priority_min)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036820" y="3558159"/>
            <a:ext cx="1834835" cy="332613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Calibri"/>
              </a:rPr>
              <a:t>- notification-retry.worker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991100" y="4000500"/>
            <a:ext cx="1926275" cy="162306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991100" y="4046220"/>
            <a:ext cx="1926275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4A4A4A"/>
                </a:solidFill>
                <a:latin typeface="Calibri"/>
              </a:rPr>
              <a:t>TABLES + WORKERS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036820" y="4274820"/>
            <a:ext cx="1834835" cy="332613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Calibri"/>
              </a:rPr>
              <a:t>o notification_rule v2 (3-table)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036820" y="4607433"/>
            <a:ext cx="1834835" cy="332613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Calibri"/>
              </a:rPr>
              <a:t>o notification_dispatch_log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036820" y="4940046"/>
            <a:ext cx="1834835" cy="332613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Calibri"/>
              </a:rPr>
              <a:t>o Retry 1m-&gt;5m-&gt;30m-&gt;2h-&gt;8h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036820" y="5272659"/>
            <a:ext cx="1834835" cy="332613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Calibri"/>
              </a:rPr>
              <a:t>o -&gt; Drafter inbox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74320" y="5943600"/>
            <a:ext cx="11887200" cy="6400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  <a:latin typeface="Calibri"/>
              </a:rPr>
              <a:t>External + internal signals converge into osint_signal  -  same pipeline correlates, scores, classifies, explains, and notifies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08080"/>
                </a:solidFill>
                <a:latin typeface="Calibri"/>
              </a:rPr>
              <a:t>Every step audited (audit_log + Pino redact)  -  tenant-scoped (FORCE RLS + GUC)  -  surfaced in 11 persona dashboards  -  Teams / Slack are capture-only payloads today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